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6858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87722"/>
                </a:solidFill>
                <a:latin typeface="Calibri"/>
              </a:rPr>
              <a:t>DISSERTACAO DE MESTRADO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371600"/>
            <a:ext cx="7772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mbria"/>
              </a:rPr>
              <a:t>Controle do Piper 1/6 no Drone Hibrido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097280" y="2103120"/>
            <a:ext cx="1645920" cy="0"/>
          </a:xfrm>
          <a:prstGeom prst="line">
            <a:avLst/>
          </a:prstGeom>
          <a:ln w="38100">
            <a:solidFill>
              <a:srgbClr val="E877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97280" y="2331720"/>
            <a:ext cx="7315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1">
                <a:solidFill>
                  <a:srgbClr val="F5F7FA"/>
                </a:solidFill>
                <a:latin typeface="Cambria"/>
              </a:rPr>
              <a:t>Analise comparativa dos modelos nao-lineares
e adaptacao de ganhos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160520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5F7FA"/>
                </a:solidFill>
                <a:latin typeface="Calibri"/>
              </a:rPr>
              <a:t>Kaue Martins de Souza   |   PIPER 1/6 GUI   |   Modelo NL 6DOF</a:t>
            </a:r>
          </a:p>
        </p:txBody>
      </p:sp>
      <p:sp>
        <p:nvSpPr>
          <p:cNvPr id="9" name="Rectangle 8"/>
          <p:cNvSpPr/>
          <p:nvPr/>
        </p:nvSpPr>
        <p:spPr>
          <a:xfrm>
            <a:off x="7863840" y="457200"/>
            <a:ext cx="1005840" cy="32004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0" y="475488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AERO · NL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87722"/>
                </a:solidFill>
                <a:latin typeface="Calibri"/>
              </a:rPr>
              <a:t>CONTEXTO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0F1E3C"/>
                </a:solidFill>
                <a:latin typeface="Cambria"/>
              </a:rPr>
              <a:t>A pergunta central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161288"/>
            <a:ext cx="8229600" cy="0"/>
          </a:xfrm>
          <a:prstGeom prst="line">
            <a:avLst/>
          </a:prstGeom>
          <a:ln w="1587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57200" y="1417320"/>
            <a:ext cx="8229600" cy="10515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91440" cy="105156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7863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87722"/>
                </a:solidFill>
                <a:latin typeface="Calibri"/>
              </a:rPr>
              <a:t>PERGUNTA DE PROJETO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10512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F1E3C"/>
                </a:solidFill>
                <a:latin typeface="Cambria"/>
              </a:rPr>
              <a:t>Se o Drone Hibrido e fisicamente semelhante ao Piper 1/6,
os ganhos dos controladores podem ser reaproveitados diretamente?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788920"/>
            <a:ext cx="260604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788920"/>
            <a:ext cx="2606040" cy="109728"/>
          </a:xfrm>
          <a:prstGeom prst="rect">
            <a:avLst/>
          </a:prstGeom>
          <a:solidFill>
            <a:srgbClr val="1E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01752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F1E3C"/>
                </a:solidFill>
                <a:latin typeface="Cambria"/>
              </a:rPr>
              <a:t>Modelos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383279"/>
            <a:ext cx="214884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1A2847"/>
                </a:solidFill>
                <a:latin typeface="Calibri"/>
              </a:rPr>
              <a:t>Comparar parametros fisicos e coeficientes aerodinamicos das duas aeronaves no dominio nao-linear 6DOF.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2788920"/>
            <a:ext cx="260604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0" y="2788920"/>
            <a:ext cx="2606040" cy="109728"/>
          </a:xfrm>
          <a:prstGeom prst="rect">
            <a:avLst/>
          </a:prstGeom>
          <a:solidFill>
            <a:srgbClr val="1E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29000" y="301752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F1E3C"/>
                </a:solidFill>
                <a:latin typeface="Cambria"/>
              </a:rPr>
              <a:t>Ganhos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3383279"/>
            <a:ext cx="214884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1A2847"/>
                </a:solidFill>
                <a:latin typeface="Calibri"/>
              </a:rPr>
              <a:t>Identificar quais ganhos (altitude, theta, V, phi, yaw) migram sem alteracao e quais exigem adaptacao.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0" y="2788920"/>
            <a:ext cx="260604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43600" y="2788920"/>
            <a:ext cx="2606040" cy="109728"/>
          </a:xfrm>
          <a:prstGeom prst="rect">
            <a:avLst/>
          </a:prstGeom>
          <a:solidFill>
            <a:srgbClr val="1E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72200" y="301752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F1E3C"/>
                </a:solidFill>
                <a:latin typeface="Cambria"/>
              </a:rPr>
              <a:t>Resposta em voo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3383279"/>
            <a:ext cx="214884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1A2847"/>
                </a:solidFill>
                <a:latin typeface="Calibri"/>
              </a:rPr>
              <a:t>Simular ambas com os mesmos ganhos e com ganhos proprios; comparar altitude, velocidade e heading.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4846320"/>
            <a:ext cx="8046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Drone Hibrido vs Piper 1/6   |   Kaue Martins de Souza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484632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87722"/>
                </a:solidFill>
                <a:latin typeface="Calibri"/>
              </a:rPr>
              <a:t>CARACTERIZACAO · 1/4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0F1E3C"/>
                </a:solidFill>
                <a:latin typeface="Cambria"/>
              </a:rPr>
              <a:t>As duas aeronaves: parametros fisicos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161288"/>
            <a:ext cx="8229600" cy="0"/>
          </a:xfrm>
          <a:prstGeom prst="line">
            <a:avLst/>
          </a:prstGeom>
          <a:ln w="1587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5257800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051560"/>
                <a:gridCol w="1234440"/>
                <a:gridCol w="1051560"/>
              </a:tblGrid>
              <a:tr h="295101">
                <a:tc>
                  <a:txBody>
                    <a:bodyPr lIns="60000" rIns="60000" tIns="30000" bIns="30000"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Parametro</a:t>
                      </a:r>
                    </a:p>
                  </a:txBody>
                  <a:tcPr>
                    <a:solidFill>
                      <a:srgbClr val="0F1E3C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Piper 1/6</a:t>
                      </a:r>
                    </a:p>
                  </a:txBody>
                  <a:tcPr>
                    <a:solidFill>
                      <a:srgbClr val="0F1E3C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Drone Hibrido</a:t>
                      </a:r>
                    </a:p>
                  </a:txBody>
                  <a:tcPr>
                    <a:solidFill>
                      <a:srgbClr val="0F1E3C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DH / Piper</a:t>
                      </a:r>
                    </a:p>
                  </a:txBody>
                  <a:tcPr>
                    <a:solidFill>
                      <a:srgbClr val="0F1E3C"/>
                    </a:solidFill>
                  </a:tcPr>
                </a:tc>
              </a:tr>
              <a:tr h="295101">
                <a:tc>
                  <a:txBody>
                    <a:bodyPr lIns="60000" rIns="60000" tIns="30000" bIns="30000"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847"/>
                          </a:solidFill>
                          <a:latin typeface="Calibri"/>
                        </a:rPr>
                        <a:t>Massa m (kg)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2847"/>
                          </a:solidFill>
                          <a:latin typeface="Calibri"/>
                        </a:rPr>
                        <a:t>3.155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2847"/>
                          </a:solidFill>
                          <a:latin typeface="Calibri"/>
                        </a:rPr>
                        <a:t>2.300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E87722"/>
                          </a:solidFill>
                          <a:latin typeface="Calibri"/>
                        </a:rPr>
                        <a:t>0.73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295101">
                <a:tc>
                  <a:txBody>
                    <a:bodyPr lIns="60000" rIns="60000" tIns="30000" bIns="30000"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847"/>
                          </a:solidFill>
                          <a:latin typeface="Calibri"/>
                        </a:rPr>
                        <a:t>Area alar S (m²)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2847"/>
                          </a:solidFill>
                          <a:latin typeface="Calibri"/>
                        </a:rPr>
                        <a:t>0.450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2847"/>
                          </a:solidFill>
                          <a:latin typeface="Calibri"/>
                        </a:rPr>
                        <a:t>0.270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E87722"/>
                          </a:solidFill>
                          <a:latin typeface="Calibri"/>
                        </a:rPr>
                        <a:t>0.60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5101">
                <a:tc>
                  <a:txBody>
                    <a:bodyPr lIns="60000" rIns="60000" tIns="30000" bIns="30000"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847"/>
                          </a:solidFill>
                          <a:latin typeface="Calibri"/>
                        </a:rPr>
                        <a:t>Envergadura b (m)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2847"/>
                          </a:solidFill>
                          <a:latin typeface="Calibri"/>
                        </a:rPr>
                        <a:t>1.800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2847"/>
                          </a:solidFill>
                          <a:latin typeface="Calibri"/>
                        </a:rPr>
                        <a:t>1.200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E87722"/>
                          </a:solidFill>
                          <a:latin typeface="Calibri"/>
                        </a:rPr>
                        <a:t>0.67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295101">
                <a:tc>
                  <a:txBody>
                    <a:bodyPr lIns="60000" rIns="60000" tIns="30000" bIns="30000"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847"/>
                          </a:solidFill>
                          <a:latin typeface="Calibri"/>
                        </a:rPr>
                        <a:t>Corda media c (m)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2847"/>
                          </a:solidFill>
                          <a:latin typeface="Calibri"/>
                        </a:rPr>
                        <a:t>0.250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2847"/>
                          </a:solidFill>
                          <a:latin typeface="Calibri"/>
                        </a:rPr>
                        <a:t>0.226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2847"/>
                          </a:solidFill>
                          <a:latin typeface="Calibri"/>
                        </a:rPr>
                        <a:t>0.90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5101">
                <a:tc>
                  <a:txBody>
                    <a:bodyPr lIns="60000" rIns="60000" tIns="30000" bIns="30000"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847"/>
                          </a:solidFill>
                          <a:latin typeface="Calibri"/>
                        </a:rPr>
                        <a:t>Tracao max Fmax (N)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2847"/>
                          </a:solidFill>
                          <a:latin typeface="Calibri"/>
                        </a:rPr>
                        <a:t>18.0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2847"/>
                          </a:solidFill>
                          <a:latin typeface="Calibri"/>
                        </a:rPr>
                        <a:t>14.0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2847"/>
                          </a:solidFill>
                          <a:latin typeface="Calibri"/>
                        </a:rPr>
                        <a:t>0.78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295101">
                <a:tc>
                  <a:txBody>
                    <a:bodyPr lIns="60000" rIns="60000" tIns="30000" bIns="30000"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847"/>
                          </a:solidFill>
                          <a:latin typeface="Calibri"/>
                        </a:rPr>
                        <a:t>Ixx (kg·m²)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2847"/>
                          </a:solidFill>
                          <a:latin typeface="Calibri"/>
                        </a:rPr>
                        <a:t>0.236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2847"/>
                          </a:solidFill>
                          <a:latin typeface="Calibri"/>
                        </a:rPr>
                        <a:t>0.144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E87722"/>
                          </a:solidFill>
                          <a:latin typeface="Calibri"/>
                        </a:rPr>
                        <a:t>0.61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5101">
                <a:tc>
                  <a:txBody>
                    <a:bodyPr lIns="60000" rIns="60000" tIns="30000" bIns="30000"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847"/>
                          </a:solidFill>
                          <a:latin typeface="Calibri"/>
                        </a:rPr>
                        <a:t>Iyy (kg·m²)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2847"/>
                          </a:solidFill>
                          <a:latin typeface="Calibri"/>
                        </a:rPr>
                        <a:t>0.122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2847"/>
                          </a:solidFill>
                          <a:latin typeface="Calibri"/>
                        </a:rPr>
                        <a:t>0.116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2847"/>
                          </a:solidFill>
                          <a:latin typeface="Calibri"/>
                        </a:rPr>
                        <a:t>0.95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295101">
                <a:tc>
                  <a:txBody>
                    <a:bodyPr lIns="60000" rIns="60000" tIns="30000" bIns="30000"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847"/>
                          </a:solidFill>
                          <a:latin typeface="Calibri"/>
                        </a:rPr>
                        <a:t>Izz (kg·m²)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2847"/>
                          </a:solidFill>
                          <a:latin typeface="Calibri"/>
                        </a:rPr>
                        <a:t>0.335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2847"/>
                          </a:solidFill>
                          <a:latin typeface="Calibri"/>
                        </a:rPr>
                        <a:t>0.257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2847"/>
                          </a:solidFill>
                          <a:latin typeface="Calibri"/>
                        </a:rPr>
                        <a:t>0.77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5101">
                <a:tc>
                  <a:txBody>
                    <a:bodyPr lIns="60000" rIns="60000" tIns="30000" bIns="30000"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847"/>
                          </a:solidFill>
                          <a:latin typeface="Calibri"/>
                        </a:rPr>
                        <a:t>Carga alar W/S (N/m²)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2847"/>
                          </a:solidFill>
                          <a:latin typeface="Calibri"/>
                        </a:rPr>
                        <a:t>68.8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2847"/>
                          </a:solidFill>
                          <a:latin typeface="Calibri"/>
                        </a:rPr>
                        <a:t>83.6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2847"/>
                          </a:solidFill>
                          <a:latin typeface="Calibri"/>
                        </a:rPr>
                        <a:t>1.22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295110">
                <a:tc>
                  <a:txBody>
                    <a:bodyPr lIns="60000" rIns="60000" tIns="30000" bIns="30000"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847"/>
                          </a:solidFill>
                          <a:latin typeface="Calibri"/>
                        </a:rPr>
                        <a:t>Razao T/W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2847"/>
                          </a:solidFill>
                          <a:latin typeface="Calibri"/>
                        </a:rPr>
                        <a:t>0.58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2847"/>
                          </a:solidFill>
                          <a:latin typeface="Calibri"/>
                        </a:rPr>
                        <a:t>0.62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2847"/>
                          </a:solidFill>
                          <a:latin typeface="Calibri"/>
                        </a:rPr>
                        <a:t>1.07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897880" y="1371600"/>
            <a:ext cx="2788920" cy="32461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97880" y="1371600"/>
            <a:ext cx="91440" cy="3246120"/>
          </a:xfrm>
          <a:prstGeom prst="rect">
            <a:avLst/>
          </a:prstGeom>
          <a:solidFill>
            <a:srgbClr val="1E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0" y="150876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E3A6C"/>
                </a:solidFill>
                <a:latin typeface="Calibri"/>
              </a:rPr>
              <a:t>LEITURA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1783080"/>
            <a:ext cx="246888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0F1E3C"/>
                </a:solidFill>
                <a:latin typeface="Calibri"/>
              </a:rPr>
              <a:t>DH e menor e mais leve: </a:t>
            </a:r>
            <a:r>
              <a:rPr sz="1150" b="0" i="0">
                <a:solidFill>
                  <a:srgbClr val="1A2847"/>
                </a:solidFill>
                <a:latin typeface="Calibri"/>
              </a:rPr>
              <a:t>~60% da area alar e ~73% da massa do Piper.</a:t>
            </a:r>
          </a:p>
          <a:p>
            <a:pPr algn="l"/>
            <a:r>
              <a:rPr sz="600" b="0" i="0">
                <a:solidFill>
                  <a:srgbClr val="1A2847"/>
                </a:solidFill>
                <a:latin typeface="Calibri"/>
              </a:rPr>
              <a:t/>
            </a:r>
          </a:p>
          <a:p>
            <a:pPr algn="l"/>
            <a:r>
              <a:rPr sz="1150" b="1" i="0">
                <a:solidFill>
                  <a:srgbClr val="0F1E3C"/>
                </a:solidFill>
                <a:latin typeface="Calibri"/>
              </a:rPr>
              <a:t>Maior carga alar (W/S): </a:t>
            </a:r>
            <a:r>
              <a:rPr sz="1150" b="0" i="0">
                <a:solidFill>
                  <a:srgbClr val="1A2847"/>
                </a:solidFill>
                <a:latin typeface="Calibri"/>
              </a:rPr>
              <a:t>voo a VT = 15 m/s exige mais sustentacao por area.</a:t>
            </a:r>
          </a:p>
          <a:p>
            <a:pPr algn="l"/>
            <a:r>
              <a:rPr sz="600" b="0" i="0">
                <a:solidFill>
                  <a:srgbClr val="1A2847"/>
                </a:solidFill>
                <a:latin typeface="Calibri"/>
              </a:rPr>
              <a:t/>
            </a:r>
          </a:p>
          <a:p>
            <a:pPr algn="l"/>
            <a:r>
              <a:rPr sz="1150" b="1" i="0">
                <a:solidFill>
                  <a:srgbClr val="0F1E3C"/>
                </a:solidFill>
                <a:latin typeface="Calibri"/>
              </a:rPr>
              <a:t>T/W levemente maior no DH: </a:t>
            </a:r>
            <a:r>
              <a:rPr sz="1150" b="0" i="0">
                <a:solidFill>
                  <a:srgbClr val="1A2847"/>
                </a:solidFill>
                <a:latin typeface="Calibri"/>
              </a:rPr>
              <a:t>tracao relativa similar — nao justifica ganho de throttle radicalmente diferente.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846320"/>
            <a:ext cx="8046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Drone Hibrido vs Piper 1/6   |   Kaue Martins de Souza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484632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87722"/>
                </a:solidFill>
                <a:latin typeface="Calibri"/>
              </a:rPr>
              <a:t>CARACTERIZACAO · 2/4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0F1E3C"/>
                </a:solidFill>
                <a:latin typeface="Cambria"/>
              </a:rPr>
              <a:t>Coeficientes aerodinamicos longitudinais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161288"/>
            <a:ext cx="8229600" cy="0"/>
          </a:xfrm>
          <a:prstGeom prst="line">
            <a:avLst/>
          </a:prstGeom>
          <a:ln w="1587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5257800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960120"/>
                <a:gridCol w="960120"/>
                <a:gridCol w="1188720"/>
              </a:tblGrid>
              <a:tr h="325755">
                <a:tc>
                  <a:txBody>
                    <a:bodyPr lIns="60000" rIns="60000" tIns="30000" bIns="30000"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Coeficiente</a:t>
                      </a:r>
                    </a:p>
                  </a:txBody>
                  <a:tcPr>
                    <a:solidFill>
                      <a:srgbClr val="0F1E3C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Piper</a:t>
                      </a:r>
                    </a:p>
                  </a:txBody>
                  <a:tcPr>
                    <a:solidFill>
                      <a:srgbClr val="0F1E3C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DH</a:t>
                      </a:r>
                    </a:p>
                  </a:txBody>
                  <a:tcPr>
                    <a:solidFill>
                      <a:srgbClr val="0F1E3C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Obs</a:t>
                      </a:r>
                    </a:p>
                  </a:txBody>
                  <a:tcPr>
                    <a:solidFill>
                      <a:srgbClr val="0F1E3C"/>
                    </a:solidFill>
                  </a:tcPr>
                </a:tc>
              </a:tr>
              <a:tr h="325755">
                <a:tc>
                  <a:txBody>
                    <a:bodyPr lIns="60000" rIns="60000" tIns="30000" bIns="30000"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847"/>
                          </a:solidFill>
                          <a:latin typeface="Calibri"/>
                        </a:rPr>
                        <a:t>CL_null (sustentacao)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2847"/>
                          </a:solidFill>
                          <a:latin typeface="Calibri"/>
                        </a:rPr>
                        <a:t>1.042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2847"/>
                          </a:solidFill>
                          <a:latin typeface="Calibri"/>
                        </a:rPr>
                        <a:t>0.194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2847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5755">
                <a:tc>
                  <a:txBody>
                    <a:bodyPr lIns="60000" rIns="60000" tIns="30000" bIns="30000"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847"/>
                          </a:solidFill>
                          <a:latin typeface="Calibri"/>
                        </a:rPr>
                        <a:t>CL_alpha (rad⁻¹)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2847"/>
                          </a:solidFill>
                          <a:latin typeface="Calibri"/>
                        </a:rPr>
                        <a:t>4.267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2847"/>
                          </a:solidFill>
                          <a:latin typeface="Calibri"/>
                        </a:rPr>
                        <a:t>2.878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E3A6C"/>
                          </a:solidFill>
                          <a:latin typeface="Calibri"/>
                        </a:rPr>
                        <a:t>DH -33%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5755">
                <a:tc>
                  <a:txBody>
                    <a:bodyPr lIns="60000" rIns="60000" tIns="30000" bIns="30000"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847"/>
                          </a:solidFill>
                          <a:latin typeface="Calibri"/>
                        </a:rPr>
                        <a:t>CL_q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2847"/>
                          </a:solidFill>
                          <a:latin typeface="Calibri"/>
                        </a:rPr>
                        <a:t>18.23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2847"/>
                          </a:solidFill>
                          <a:latin typeface="Calibri"/>
                        </a:rPr>
                        <a:t>31.10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E3A6C"/>
                          </a:solidFill>
                          <a:latin typeface="Calibri"/>
                        </a:rPr>
                        <a:t>DH +71%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5755">
                <a:tc>
                  <a:txBody>
                    <a:bodyPr lIns="60000" rIns="60000" tIns="30000" bIns="30000"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847"/>
                          </a:solidFill>
                          <a:latin typeface="Calibri"/>
                        </a:rPr>
                        <a:t>Cm_alpha (estab. estatica)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2847"/>
                          </a:solidFill>
                          <a:latin typeface="Calibri"/>
                        </a:rPr>
                        <a:t>-0.215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2847"/>
                          </a:solidFill>
                          <a:latin typeface="Calibri"/>
                        </a:rPr>
                        <a:t>-0.882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E3A6C"/>
                          </a:solidFill>
                          <a:latin typeface="Calibri"/>
                        </a:rPr>
                        <a:t>DH 4.1× mais estavel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5755">
                <a:tc>
                  <a:txBody>
                    <a:bodyPr lIns="60000" rIns="60000" tIns="30000" bIns="30000"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847"/>
                          </a:solidFill>
                          <a:latin typeface="Calibri"/>
                        </a:rPr>
                        <a:t>Cm_q (amortecimento)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2847"/>
                          </a:solidFill>
                          <a:latin typeface="Calibri"/>
                        </a:rPr>
                        <a:t>-9.88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2847"/>
                          </a:solidFill>
                          <a:latin typeface="Calibri"/>
                        </a:rPr>
                        <a:t>-9.93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E3A6C"/>
                          </a:solidFill>
                          <a:latin typeface="Calibri"/>
                        </a:rPr>
                        <a:t>similar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5755">
                <a:tc>
                  <a:txBody>
                    <a:bodyPr lIns="60000" rIns="60000" tIns="30000" bIns="30000"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847"/>
                          </a:solidFill>
                          <a:latin typeface="Calibri"/>
                        </a:rPr>
                        <a:t>Cm_de (autoridade profundor)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2847"/>
                          </a:solidFill>
                          <a:latin typeface="Calibri"/>
                        </a:rPr>
                        <a:t>1.307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2847"/>
                          </a:solidFill>
                          <a:latin typeface="Calibri"/>
                        </a:rPr>
                        <a:t>1.047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E3A6C"/>
                          </a:solidFill>
                          <a:latin typeface="Calibri"/>
                        </a:rPr>
                        <a:t>DH -20%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5755">
                <a:tc>
                  <a:txBody>
                    <a:bodyPr lIns="60000" rIns="60000" tIns="30000" bIns="30000"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847"/>
                          </a:solidFill>
                          <a:latin typeface="Calibri"/>
                        </a:rPr>
                        <a:t>CD_null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2847"/>
                          </a:solidFill>
                          <a:latin typeface="Calibri"/>
                        </a:rPr>
                        <a:t>0.122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2847"/>
                          </a:solidFill>
                          <a:latin typeface="Calibri"/>
                        </a:rPr>
                        <a:t>0.100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2847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897880" y="1371600"/>
            <a:ext cx="2788920" cy="26060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97880" y="1371600"/>
            <a:ext cx="91440" cy="2606040"/>
          </a:xfrm>
          <a:prstGeom prst="rect">
            <a:avLst/>
          </a:prstGeom>
          <a:solidFill>
            <a:srgbClr val="1E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0" y="150876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E3A6C"/>
                </a:solidFill>
                <a:latin typeface="Calibri"/>
              </a:rPr>
              <a:t>IMPLICACOES LONGITUDINAIS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1783080"/>
            <a:ext cx="246888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F1E3C"/>
                </a:solidFill>
                <a:latin typeface="Calibri"/>
              </a:rPr>
              <a:t>DH mais estavel em alpha: </a:t>
            </a:r>
            <a:r>
              <a:rPr sz="1100" b="0" i="0">
                <a:solidFill>
                  <a:srgbClr val="1A2847"/>
                </a:solidFill>
                <a:latin typeface="Calibri"/>
              </a:rPr>
              <a:t>|Cm_α| = 4× maior → modos de periodo curto mais amortecidos.</a:t>
            </a:r>
          </a:p>
          <a:p>
            <a:pPr algn="l"/>
            <a:r>
              <a:rPr sz="500" b="0" i="0">
                <a:solidFill>
                  <a:srgbClr val="1A2847"/>
                </a:solidFill>
                <a:latin typeface="Calibri"/>
              </a:rPr>
              <a:t/>
            </a:r>
          </a:p>
          <a:p>
            <a:pPr algn="l"/>
            <a:r>
              <a:rPr sz="1100" b="1" i="0">
                <a:solidFill>
                  <a:srgbClr val="0F1E3C"/>
                </a:solidFill>
                <a:latin typeface="Calibri"/>
              </a:rPr>
              <a:t>Profundor similar: </a:t>
            </a:r>
            <a:r>
              <a:rPr sz="1100" b="0" i="0">
                <a:solidFill>
                  <a:srgbClr val="1A2847"/>
                </a:solidFill>
                <a:latin typeface="Calibri"/>
              </a:rPr>
              <a:t>Cm_δe praticamente igual → ganhos de θ e altitude migram bem.</a:t>
            </a:r>
          </a:p>
          <a:p>
            <a:pPr algn="l"/>
            <a:r>
              <a:rPr sz="500" b="0" i="0">
                <a:solidFill>
                  <a:srgbClr val="1A2847"/>
                </a:solidFill>
                <a:latin typeface="Calibri"/>
              </a:rPr>
              <a:t/>
            </a:r>
          </a:p>
          <a:p>
            <a:pPr algn="l"/>
            <a:r>
              <a:rPr sz="1100" b="1" i="0">
                <a:solidFill>
                  <a:srgbClr val="0F1E3C"/>
                </a:solidFill>
                <a:latin typeface="Calibri"/>
              </a:rPr>
              <a:t>CL_α menor no DH: </a:t>
            </a:r>
            <a:r>
              <a:rPr sz="1100" b="0" i="0">
                <a:solidFill>
                  <a:srgbClr val="1A2847"/>
                </a:solidFill>
                <a:latin typeface="Calibri"/>
              </a:rPr>
              <a:t>asa menos sensivel a incidencia, mas compensado por S e inercia reduzidas.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160520"/>
            <a:ext cx="8229600" cy="502920"/>
          </a:xfrm>
          <a:prstGeom prst="rect">
            <a:avLst/>
          </a:prstGeom>
          <a:solidFill>
            <a:srgbClr val="0F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251960"/>
            <a:ext cx="7863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No canal longitudinal, as plantas sao SEMELHANTES o bastante para manter ganhos de θ e altitude iguais.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846320"/>
            <a:ext cx="8046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Drone Hibrido vs Piper 1/6   |   Kaue Martins de Souza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484632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87722"/>
                </a:solidFill>
                <a:latin typeface="Calibri"/>
              </a:rPr>
              <a:t>CARACTERIZACAO · 3/4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0F1E3C"/>
                </a:solidFill>
                <a:latin typeface="Cambria"/>
              </a:rPr>
              <a:t>Coeficientes aerodinamicos latero-direcionais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161288"/>
            <a:ext cx="8229600" cy="0"/>
          </a:xfrm>
          <a:prstGeom prst="line">
            <a:avLst/>
          </a:prstGeom>
          <a:ln w="1587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822960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417320"/>
                <a:gridCol w="1417320"/>
                <a:gridCol w="2834640"/>
              </a:tblGrid>
              <a:tr h="331470">
                <a:tc>
                  <a:txBody>
                    <a:bodyPr lIns="60000" rIns="60000" tIns="30000" bIns="30000"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Coeficiente</a:t>
                      </a:r>
                    </a:p>
                  </a:txBody>
                  <a:tcPr>
                    <a:solidFill>
                      <a:srgbClr val="0F1E3C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Piper</a:t>
                      </a:r>
                    </a:p>
                  </a:txBody>
                  <a:tcPr>
                    <a:solidFill>
                      <a:srgbClr val="0F1E3C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DH</a:t>
                      </a:r>
                    </a:p>
                  </a:txBody>
                  <a:tcPr>
                    <a:solidFill>
                      <a:srgbClr val="0F1E3C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Observacao</a:t>
                      </a:r>
                    </a:p>
                  </a:txBody>
                  <a:tcPr>
                    <a:solidFill>
                      <a:srgbClr val="0F1E3C"/>
                    </a:solidFill>
                  </a:tcPr>
                </a:tc>
              </a:tr>
              <a:tr h="331470">
                <a:tc>
                  <a:txBody>
                    <a:bodyPr lIns="60000" rIns="60000" tIns="30000" bIns="30000"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A2847"/>
                          </a:solidFill>
                          <a:latin typeface="Calibri"/>
                        </a:rPr>
                        <a:t>Cl_beta (diedro efetivo)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2847"/>
                          </a:solidFill>
                          <a:latin typeface="Calibri"/>
                        </a:rPr>
                        <a:t>-0.043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2847"/>
                          </a:solidFill>
                          <a:latin typeface="Calibri"/>
                        </a:rPr>
                        <a:t>-0.277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E3A6C"/>
                          </a:solidFill>
                          <a:latin typeface="Calibri"/>
                        </a:rPr>
                        <a:t>DH 6.5× mais diedro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31470">
                <a:tc>
                  <a:txBody>
                    <a:bodyPr lIns="60000" rIns="60000" tIns="30000" bIns="30000"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A2847"/>
                          </a:solidFill>
                          <a:latin typeface="Calibri"/>
                        </a:rPr>
                        <a:t>Cl_p (amort. rolagem)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2847"/>
                          </a:solidFill>
                          <a:latin typeface="Calibri"/>
                        </a:rPr>
                        <a:t>-0.495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2847"/>
                          </a:solidFill>
                          <a:latin typeface="Calibri"/>
                        </a:rPr>
                        <a:t>-1.329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E3A6C"/>
                          </a:solidFill>
                          <a:latin typeface="Calibri"/>
                        </a:rPr>
                        <a:t>DH 2.7× mais amort.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1470">
                <a:tc>
                  <a:txBody>
                    <a:bodyPr lIns="60000" rIns="60000" tIns="30000" bIns="30000"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E87722"/>
                          </a:solidFill>
                          <a:latin typeface="Calibri"/>
                        </a:rPr>
                        <a:t>Cl_da (controle aileron)</a:t>
                      </a:r>
                    </a:p>
                  </a:txBody>
                  <a:tcPr>
                    <a:solidFill>
                      <a:srgbClr val="FFF4EA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E87722"/>
                          </a:solidFill>
                          <a:latin typeface="Calibri"/>
                        </a:rPr>
                        <a:t>+0.0069</a:t>
                      </a:r>
                    </a:p>
                  </a:txBody>
                  <a:tcPr>
                    <a:solidFill>
                      <a:srgbClr val="FFF4EA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E87722"/>
                          </a:solidFill>
                          <a:latin typeface="Calibri"/>
                        </a:rPr>
                        <a:t>-0.7108</a:t>
                      </a:r>
                    </a:p>
                  </a:txBody>
                  <a:tcPr>
                    <a:solidFill>
                      <a:srgbClr val="FFF4EA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E87722"/>
                          </a:solidFill>
                          <a:latin typeface="Calibri"/>
                        </a:rPr>
                        <a:t>SINAL INVERTIDO · 103×</a:t>
                      </a:r>
                    </a:p>
                  </a:txBody>
                  <a:tcPr>
                    <a:solidFill>
                      <a:srgbClr val="FFF4EA"/>
                    </a:solidFill>
                  </a:tcPr>
                </a:tc>
              </a:tr>
              <a:tr h="331470">
                <a:tc>
                  <a:txBody>
                    <a:bodyPr lIns="60000" rIns="60000" tIns="30000" bIns="30000"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A2847"/>
                          </a:solidFill>
                          <a:latin typeface="Calibri"/>
                        </a:rPr>
                        <a:t>Cn_beta (estab. direcional)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2847"/>
                          </a:solidFill>
                          <a:latin typeface="Calibri"/>
                        </a:rPr>
                        <a:t>+0.0454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2847"/>
                          </a:solidFill>
                          <a:latin typeface="Calibri"/>
                        </a:rPr>
                        <a:t>+0.1535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E3A6C"/>
                          </a:solidFill>
                          <a:latin typeface="Calibri"/>
                        </a:rPr>
                        <a:t>DH 3.4× mais estavel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1470">
                <a:tc>
                  <a:txBody>
                    <a:bodyPr lIns="60000" rIns="60000" tIns="30000" bIns="30000"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A2847"/>
                          </a:solidFill>
                          <a:latin typeface="Calibri"/>
                        </a:rPr>
                        <a:t>Cn_r (amort. yaw)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2847"/>
                          </a:solidFill>
                          <a:latin typeface="Calibri"/>
                        </a:rPr>
                        <a:t>-0.044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2847"/>
                          </a:solidFill>
                          <a:latin typeface="Calibri"/>
                        </a:rPr>
                        <a:t>-0.461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E3A6C"/>
                          </a:solidFill>
                          <a:latin typeface="Calibri"/>
                        </a:rPr>
                        <a:t>DH 10.5× mais amort.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31470">
                <a:tc>
                  <a:txBody>
                    <a:bodyPr lIns="60000" rIns="60000" tIns="30000" bIns="30000"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E87722"/>
                          </a:solidFill>
                          <a:latin typeface="Calibri"/>
                        </a:rPr>
                        <a:t>Cn_dr (controle leme)</a:t>
                      </a:r>
                    </a:p>
                  </a:txBody>
                  <a:tcPr>
                    <a:solidFill>
                      <a:srgbClr val="FFF4EA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E87722"/>
                          </a:solidFill>
                          <a:latin typeface="Calibri"/>
                        </a:rPr>
                        <a:t>-7.1e-4</a:t>
                      </a:r>
                    </a:p>
                  </a:txBody>
                  <a:tcPr>
                    <a:solidFill>
                      <a:srgbClr val="FFF4EA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E87722"/>
                          </a:solidFill>
                          <a:latin typeface="Calibri"/>
                        </a:rPr>
                        <a:t>+0.1830</a:t>
                      </a:r>
                    </a:p>
                  </a:txBody>
                  <a:tcPr>
                    <a:solidFill>
                      <a:srgbClr val="FFF4EA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E87722"/>
                          </a:solidFill>
                          <a:latin typeface="Calibri"/>
                        </a:rPr>
                        <a:t>SINAL INVERTIDO · 257×</a:t>
                      </a:r>
                    </a:p>
                  </a:txBody>
                  <a:tcPr>
                    <a:solidFill>
                      <a:srgbClr val="FFF4EA"/>
                    </a:solidFill>
                  </a:tcPr>
                </a:tc>
              </a:tr>
              <a:tr h="331470">
                <a:tc>
                  <a:txBody>
                    <a:bodyPr lIns="60000" rIns="60000" tIns="30000" bIns="30000"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A2847"/>
                          </a:solidFill>
                          <a:latin typeface="Calibri"/>
                        </a:rPr>
                        <a:t>CY_beta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2847"/>
                          </a:solidFill>
                          <a:latin typeface="Calibri"/>
                        </a:rPr>
                        <a:t>-0.122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2847"/>
                          </a:solidFill>
                          <a:latin typeface="Calibri"/>
                        </a:rPr>
                        <a:t>-0.399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E3A6C"/>
                          </a:solidFill>
                          <a:latin typeface="Calibri"/>
                        </a:rPr>
                        <a:t>DH 3.3× maior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57200" y="4160520"/>
            <a:ext cx="8229600" cy="5029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4251960"/>
            <a:ext cx="7863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DUAS SURPRESAS:   Cl_δa e Cn_δr tem SINAL OPOSTO no DH — e magnitudes 2 ordens de grandeza maiores.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4846320"/>
            <a:ext cx="8046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Drone Hibrido vs Piper 1/6   |   Kaue Martins de Souza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484632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87722"/>
                </a:solidFill>
                <a:latin typeface="Calibri"/>
              </a:rPr>
              <a:t>CARACTERIZACAO · 4/4 · PONTO CRITICO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0F1E3C"/>
                </a:solidFill>
                <a:latin typeface="Cambria"/>
              </a:rPr>
              <a:t>Por que o aileron do DH inverte o sinal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161288"/>
            <a:ext cx="8229600" cy="0"/>
          </a:xfrm>
          <a:prstGeom prst="line">
            <a:avLst/>
          </a:prstGeom>
          <a:ln w="1587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57200" y="1417320"/>
            <a:ext cx="3977639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3977639" cy="457200"/>
          </a:xfrm>
          <a:prstGeom prst="rect">
            <a:avLst/>
          </a:prstGeom>
          <a:solidFill>
            <a:srgbClr val="0F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8132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CONTROLE DE ROLAGEM (Cl_δa)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64748B"/>
                </a:solidFill>
                <a:latin typeface="Calibri"/>
              </a:rPr>
              <a:t>Piper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04288"/>
            <a:ext cx="1737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2E7D32"/>
                </a:solidFill>
                <a:latin typeface="Cambria"/>
              </a:rPr>
              <a:t>+0.0069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71800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da+ ⇒ roll 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14600" y="20116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64748B"/>
                </a:solidFill>
                <a:latin typeface="Calibri"/>
              </a:rPr>
              <a:t>DH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4600" y="2304288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C0392B"/>
                </a:solidFill>
                <a:latin typeface="Cambria"/>
              </a:rPr>
              <a:t>-0.7108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4600" y="2971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da+ ⇒ roll -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383280"/>
            <a:ext cx="365760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2847"/>
                </a:solidFill>
                <a:latin typeface="Calibri"/>
              </a:rPr>
              <a:t>A convencao de deflexao positiva e diferente. Um aileron deflexionado "para baixo" na asa direita gera rolagem em sentidos OPOSTOS nos dois modelos AVL — e a magnitude reflete a geometria:
enflechamento, posicao, corda e brazo ate o CG do DH.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09160" y="1417320"/>
            <a:ext cx="3977639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09160" y="1417320"/>
            <a:ext cx="3977639" cy="457200"/>
          </a:xfrm>
          <a:prstGeom prst="rect">
            <a:avLst/>
          </a:prstGeom>
          <a:solidFill>
            <a:srgbClr val="0F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92040" y="148132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CONTROLE DE GUINADA (Cn_δr)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201168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64748B"/>
                </a:solidFill>
                <a:latin typeface="Calibri"/>
              </a:rPr>
              <a:t>Piper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92040" y="2304288"/>
            <a:ext cx="1737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2E7D32"/>
                </a:solidFill>
                <a:latin typeface="Cambria"/>
              </a:rPr>
              <a:t>-7.1e-4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92040" y="2971800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dr+ ⇒ yaw -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20116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64748B"/>
                </a:solidFill>
                <a:latin typeface="Calibri"/>
              </a:rPr>
              <a:t>DH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2304288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C0392B"/>
                </a:solidFill>
                <a:latin typeface="Cambria"/>
              </a:rPr>
              <a:t>+0.1830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2971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dr+ ⇒ yaw 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92040" y="3383280"/>
            <a:ext cx="365760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2847"/>
                </a:solidFill>
                <a:latin typeface="Calibri"/>
              </a:rPr>
              <a:t>Pelo mesmo motivo, o leme do DH produz guinada no sentido oposto ao do Piper.
Alem disso, e MUITO mais potente: area efetiva, velocidade e braco ate o CG tornam |Cn_δr| duas ordens de grandeza maior.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4846320"/>
            <a:ext cx="8046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Drone Hibrido vs Piper 1/6   |   Kaue Martins de Souza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484632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87722"/>
                </a:solidFill>
                <a:latin typeface="Calibri"/>
              </a:rPr>
              <a:t>DO MODELO NL PARA A MATRIZ 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0F1E3C"/>
                </a:solidFill>
                <a:latin typeface="Cambria"/>
              </a:rPr>
              <a:t>Efetividades de controle no ponto de trim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161288"/>
            <a:ext cx="8229600" cy="0"/>
          </a:xfrm>
          <a:prstGeom prst="line">
            <a:avLst/>
          </a:prstGeom>
          <a:ln w="1587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28016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1">
                <a:solidFill>
                  <a:srgbClr val="64748B"/>
                </a:solidFill>
                <a:latin typeface="Calibri"/>
              </a:rPr>
              <a:t>Linearizacao da dinamica NL em torno do trim — colunas de B multiplicam (dT, de, da, dr).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91640"/>
          <a:ext cx="82296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280160"/>
                <a:gridCol w="1143000"/>
                <a:gridCol w="1143000"/>
                <a:gridCol w="960120"/>
                <a:gridCol w="1920240"/>
              </a:tblGrid>
              <a:tr h="475488">
                <a:tc>
                  <a:txBody>
                    <a:bodyPr lIns="60000" rIns="60000" tIns="30000" bIns="30000"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Elemento de B</a:t>
                      </a:r>
                    </a:p>
                  </a:txBody>
                  <a:tcPr>
                    <a:solidFill>
                      <a:srgbClr val="0F1E3C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Unidade</a:t>
                      </a:r>
                    </a:p>
                  </a:txBody>
                  <a:tcPr>
                    <a:solidFill>
                      <a:srgbClr val="0F1E3C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Piper</a:t>
                      </a:r>
                    </a:p>
                  </a:txBody>
                  <a:tcPr>
                    <a:solidFill>
                      <a:srgbClr val="0F1E3C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DH</a:t>
                      </a:r>
                    </a:p>
                  </a:txBody>
                  <a:tcPr>
                    <a:solidFill>
                      <a:srgbClr val="0F1E3C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Razao</a:t>
                      </a:r>
                    </a:p>
                  </a:txBody>
                  <a:tcPr>
                    <a:solidFill>
                      <a:srgbClr val="0F1E3C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Sinal</a:t>
                      </a:r>
                    </a:p>
                  </a:txBody>
                  <a:tcPr>
                    <a:solidFill>
                      <a:srgbClr val="0F1E3C"/>
                    </a:solidFill>
                  </a:tcPr>
                </a:tc>
              </a:tr>
              <a:tr h="475488">
                <a:tc>
                  <a:txBody>
                    <a:bodyPr lIns="60000" rIns="60000" tIns="30000" bIns="30000"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A2847"/>
                          </a:solidFill>
                          <a:latin typeface="Calibri"/>
                        </a:rPr>
                        <a:t>B_long(u, δT)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2847"/>
                          </a:solidFill>
                          <a:latin typeface="Calibri"/>
                        </a:rPr>
                        <a:t>m/s²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2847"/>
                          </a:solidFill>
                          <a:latin typeface="Calibri"/>
                        </a:rPr>
                        <a:t>5.62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2847"/>
                          </a:solidFill>
                          <a:latin typeface="Calibri"/>
                        </a:rPr>
                        <a:t>5.83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2847"/>
                          </a:solidFill>
                          <a:latin typeface="Calibri"/>
                        </a:rPr>
                        <a:t>1.04×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2847"/>
                          </a:solidFill>
                          <a:latin typeface="Calibri"/>
                        </a:rPr>
                        <a:t>=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75488">
                <a:tc>
                  <a:txBody>
                    <a:bodyPr lIns="60000" rIns="60000" tIns="30000" bIns="30000"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A2847"/>
                          </a:solidFill>
                          <a:latin typeface="Calibri"/>
                        </a:rPr>
                        <a:t>B_long(q, δe)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2847"/>
                          </a:solidFill>
                          <a:latin typeface="Calibri"/>
                        </a:rPr>
                        <a:t>rad/s²/rad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2847"/>
                          </a:solidFill>
                          <a:latin typeface="Calibri"/>
                        </a:rPr>
                        <a:t>163.1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2847"/>
                          </a:solidFill>
                          <a:latin typeface="Calibri"/>
                        </a:rPr>
                        <a:t>72.2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2847"/>
                          </a:solidFill>
                          <a:latin typeface="Calibri"/>
                        </a:rPr>
                        <a:t>0.44×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2847"/>
                          </a:solidFill>
                          <a:latin typeface="Calibri"/>
                        </a:rPr>
                        <a:t>=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lIns="60000" rIns="60000" tIns="30000" bIns="30000"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E87722"/>
                          </a:solidFill>
                          <a:latin typeface="Calibri"/>
                        </a:rPr>
                        <a:t>B_lat(p, δa)</a:t>
                      </a:r>
                    </a:p>
                  </a:txBody>
                  <a:tcPr>
                    <a:solidFill>
                      <a:srgbClr val="FFF4EA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E87722"/>
                          </a:solidFill>
                          <a:latin typeface="Calibri"/>
                        </a:rPr>
                        <a:t>rad/s²/rad</a:t>
                      </a:r>
                    </a:p>
                  </a:txBody>
                  <a:tcPr>
                    <a:solidFill>
                      <a:srgbClr val="FFF4EA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E87722"/>
                          </a:solidFill>
                          <a:latin typeface="Calibri"/>
                        </a:rPr>
                        <a:t>+3.296</a:t>
                      </a:r>
                    </a:p>
                  </a:txBody>
                  <a:tcPr>
                    <a:solidFill>
                      <a:srgbClr val="FFF4EA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E87722"/>
                          </a:solidFill>
                          <a:latin typeface="Calibri"/>
                        </a:rPr>
                        <a:t>-208.7</a:t>
                      </a:r>
                    </a:p>
                  </a:txBody>
                  <a:tcPr>
                    <a:solidFill>
                      <a:srgbClr val="FFF4EA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E87722"/>
                          </a:solidFill>
                          <a:latin typeface="Calibri"/>
                        </a:rPr>
                        <a:t>63.3×</a:t>
                      </a:r>
                    </a:p>
                  </a:txBody>
                  <a:tcPr>
                    <a:solidFill>
                      <a:srgbClr val="FFF4EA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E87722"/>
                          </a:solidFill>
                          <a:latin typeface="Calibri"/>
                        </a:rPr>
                        <a:t>INVERTIDO</a:t>
                      </a:r>
                    </a:p>
                  </a:txBody>
                  <a:tcPr>
                    <a:solidFill>
                      <a:srgbClr val="FFF4EA"/>
                    </a:solidFill>
                  </a:tcPr>
                </a:tc>
              </a:tr>
              <a:tr h="475488">
                <a:tc>
                  <a:txBody>
                    <a:bodyPr lIns="60000" rIns="60000" tIns="30000" bIns="30000"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E87722"/>
                          </a:solidFill>
                          <a:latin typeface="Calibri"/>
                        </a:rPr>
                        <a:t>B_lat(r, δr)</a:t>
                      </a:r>
                    </a:p>
                  </a:txBody>
                  <a:tcPr>
                    <a:solidFill>
                      <a:srgbClr val="FFF4EA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E87722"/>
                          </a:solidFill>
                          <a:latin typeface="Calibri"/>
                        </a:rPr>
                        <a:t>rad/s²/rad</a:t>
                      </a:r>
                    </a:p>
                  </a:txBody>
                  <a:tcPr>
                    <a:solidFill>
                      <a:srgbClr val="FFF4EA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E87722"/>
                          </a:solidFill>
                          <a:latin typeface="Calibri"/>
                        </a:rPr>
                        <a:t>-0.239</a:t>
                      </a:r>
                    </a:p>
                  </a:txBody>
                  <a:tcPr>
                    <a:solidFill>
                      <a:srgbClr val="FFF4EA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E87722"/>
                          </a:solidFill>
                          <a:latin typeface="Calibri"/>
                        </a:rPr>
                        <a:t>+30.2</a:t>
                      </a:r>
                    </a:p>
                  </a:txBody>
                  <a:tcPr>
                    <a:solidFill>
                      <a:srgbClr val="FFF4EA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E87722"/>
                          </a:solidFill>
                          <a:latin typeface="Calibri"/>
                        </a:rPr>
                        <a:t>126×</a:t>
                      </a:r>
                    </a:p>
                  </a:txBody>
                  <a:tcPr>
                    <a:solidFill>
                      <a:srgbClr val="FFF4EA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E87722"/>
                          </a:solidFill>
                          <a:latin typeface="Calibri"/>
                        </a:rPr>
                        <a:t>INVERTIDO</a:t>
                      </a:r>
                    </a:p>
                  </a:txBody>
                  <a:tcPr>
                    <a:solidFill>
                      <a:srgbClr val="FFF4EA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4160520"/>
            <a:ext cx="8229600" cy="502920"/>
          </a:xfrm>
          <a:prstGeom prst="rect">
            <a:avLst/>
          </a:prstGeom>
          <a:solidFill>
            <a:srgbClr val="0F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4242816"/>
            <a:ext cx="7863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δa no DH e 63× mais efetivo E com sinal contrario.   δr no DH e 126× mais efetivo E com sinal contrario.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4846320"/>
            <a:ext cx="8046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Drone Hibrido vs Piper 1/6   |   Kaue Martins de Souza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484632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87722"/>
                </a:solidFill>
                <a:latin typeface="Calibri"/>
              </a:rPr>
              <a:t>VISAO GERAL DOS 8 CONTROLADORES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0F1E3C"/>
                </a:solidFill>
                <a:latin typeface="Cambria"/>
              </a:rPr>
              <a:t>Resumo: 3 iguais + 5 diferentes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161288"/>
            <a:ext cx="8229600" cy="0"/>
          </a:xfrm>
          <a:prstGeom prst="line">
            <a:avLst/>
          </a:prstGeom>
          <a:ln w="1587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80160"/>
          <a:ext cx="8229599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19"/>
                <a:gridCol w="1965960"/>
                <a:gridCol w="2011680"/>
                <a:gridCol w="777240"/>
                <a:gridCol w="1600200"/>
              </a:tblGrid>
              <a:tr h="335280">
                <a:tc>
                  <a:txBody>
                    <a:bodyPr lIns="60000" rIns="60000" tIns="30000" bIns="30000"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Controlador</a:t>
                      </a:r>
                    </a:p>
                  </a:txBody>
                  <a:tcPr>
                    <a:solidFill>
                      <a:srgbClr val="0F1E3C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Piper</a:t>
                      </a:r>
                    </a:p>
                  </a:txBody>
                  <a:tcPr>
                    <a:solidFill>
                      <a:srgbClr val="0F1E3C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DH adaptado</a:t>
                      </a:r>
                    </a:p>
                  </a:txBody>
                  <a:tcPr>
                    <a:solidFill>
                      <a:srgbClr val="0F1E3C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0F1E3C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Mudanca</a:t>
                      </a:r>
                    </a:p>
                  </a:txBody>
                  <a:tcPr>
                    <a:solidFill>
                      <a:srgbClr val="0F1E3C"/>
                    </a:solidFill>
                  </a:tcPr>
                </a:tc>
              </a:tr>
              <a:tr h="335280">
                <a:tc>
                  <a:txBody>
                    <a:bodyPr lIns="60000" rIns="60000" tIns="30000" bIns="30000"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A2847"/>
                          </a:solidFill>
                          <a:latin typeface="Calibri"/>
                        </a:rPr>
                        <a:t>Altitude (h → θ_ref)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2847"/>
                          </a:solidFill>
                          <a:latin typeface="Calibri"/>
                        </a:rPr>
                        <a:t>Kp=0.08, Ki=0.02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2847"/>
                          </a:solidFill>
                          <a:latin typeface="Calibri"/>
                        </a:rPr>
                        <a:t>Kp=0.08, Ki=0.02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2E7D32"/>
                          </a:solidFill>
                          <a:latin typeface="Calibri"/>
                        </a:rPr>
                        <a:t>IGUAL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2847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35280">
                <a:tc>
                  <a:txBody>
                    <a:bodyPr lIns="60000" rIns="60000" tIns="30000" bIns="30000"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A2847"/>
                          </a:solidFill>
                          <a:latin typeface="Calibri"/>
                        </a:rPr>
                        <a:t>Pitch θ (θ → δe)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2847"/>
                          </a:solidFill>
                          <a:latin typeface="Calibri"/>
                        </a:rPr>
                        <a:t>Kp=0.260, Ki=0.143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2847"/>
                          </a:solidFill>
                          <a:latin typeface="Calibri"/>
                        </a:rPr>
                        <a:t>Kp=0.260, Ki=0.143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2E7D32"/>
                          </a:solidFill>
                          <a:latin typeface="Calibri"/>
                        </a:rPr>
                        <a:t>IGUAL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2847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 lIns="60000" rIns="60000" tIns="30000" bIns="30000"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A2847"/>
                          </a:solidFill>
                          <a:latin typeface="Calibri"/>
                        </a:rPr>
                        <a:t>Heading (ψ → φ_ref)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2847"/>
                          </a:solidFill>
                          <a:latin typeface="Calibri"/>
                        </a:rPr>
                        <a:t>K_ψ=0.3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2847"/>
                          </a:solidFill>
                          <a:latin typeface="Calibri"/>
                        </a:rPr>
                        <a:t>K_ψ=0.3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2E7D32"/>
                          </a:solidFill>
                          <a:latin typeface="Calibri"/>
                        </a:rPr>
                        <a:t>IGUAL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2847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35280">
                <a:tc>
                  <a:txBody>
                    <a:bodyPr lIns="60000" rIns="60000" tIns="30000" bIns="30000"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A2847"/>
                          </a:solidFill>
                          <a:latin typeface="Calibri"/>
                        </a:rPr>
                        <a:t>Roll φ (φ → δa)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2847"/>
                          </a:solidFill>
                          <a:latin typeface="Calibri"/>
                        </a:rPr>
                        <a:t>Kp=+10.0, Ki=0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2847"/>
                          </a:solidFill>
                          <a:latin typeface="Calibri"/>
                        </a:rPr>
                        <a:t>Kp=-0.158, Ki=-0.05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C0392B"/>
                          </a:solidFill>
                          <a:latin typeface="Calibri"/>
                        </a:rPr>
                        <a:t>DIFERE</a:t>
                      </a:r>
                    </a:p>
                  </a:txBody>
                  <a:tcPr>
                    <a:solidFill>
                      <a:srgbClr val="FFEBEE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C0392B"/>
                          </a:solidFill>
                          <a:latin typeface="Calibri"/>
                        </a:rPr>
                        <a:t>sinal + 63× menor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 lIns="60000" rIns="60000" tIns="30000" bIns="30000"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A2847"/>
                          </a:solidFill>
                          <a:latin typeface="Calibri"/>
                        </a:rPr>
                        <a:t>SAS roll (p → δa)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2847"/>
                          </a:solidFill>
                          <a:latin typeface="Calibri"/>
                        </a:rPr>
                        <a:t>Kp_sas=+0.119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2847"/>
                          </a:solidFill>
                          <a:latin typeface="Calibri"/>
                        </a:rPr>
                        <a:t>Kp_sas=-0.00188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C0392B"/>
                          </a:solidFill>
                          <a:latin typeface="Calibri"/>
                        </a:rPr>
                        <a:t>DIFERE</a:t>
                      </a:r>
                    </a:p>
                  </a:txBody>
                  <a:tcPr>
                    <a:solidFill>
                      <a:srgbClr val="FFEBEE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C0392B"/>
                          </a:solidFill>
                          <a:latin typeface="Calibri"/>
                        </a:rPr>
                        <a:t>sinal + 63× menor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35280">
                <a:tc>
                  <a:txBody>
                    <a:bodyPr lIns="60000" rIns="60000" tIns="30000" bIns="30000"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A2847"/>
                          </a:solidFill>
                          <a:latin typeface="Calibri"/>
                        </a:rPr>
                        <a:t>Yaw damper (r → δr)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2847"/>
                          </a:solidFill>
                          <a:latin typeface="Calibri"/>
                        </a:rPr>
                        <a:t>Kr=+0.15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2847"/>
                          </a:solidFill>
                          <a:latin typeface="Calibri"/>
                        </a:rPr>
                        <a:t>Kr=-0.00119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C0392B"/>
                          </a:solidFill>
                          <a:latin typeface="Calibri"/>
                        </a:rPr>
                        <a:t>DIFERE</a:t>
                      </a:r>
                    </a:p>
                  </a:txBody>
                  <a:tcPr>
                    <a:solidFill>
                      <a:srgbClr val="FFEBEE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C0392B"/>
                          </a:solidFill>
                          <a:latin typeface="Calibri"/>
                        </a:rPr>
                        <a:t>sinal + 126× menor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 lIns="60000" rIns="60000" tIns="30000" bIns="30000"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A2847"/>
                          </a:solidFill>
                          <a:latin typeface="Calibri"/>
                        </a:rPr>
                        <a:t>Velocidade (V → δT)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2847"/>
                          </a:solidFill>
                          <a:latin typeface="Calibri"/>
                        </a:rPr>
                        <a:t>Kp=0.05, Ki=0.02, Kd=0.01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2847"/>
                          </a:solidFill>
                          <a:latin typeface="Calibri"/>
                        </a:rPr>
                        <a:t>Kp=0.02, Ki=0.008, Kd=0.005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C0392B"/>
                          </a:solidFill>
                          <a:latin typeface="Calibri"/>
                        </a:rPr>
                        <a:t>DIFERE</a:t>
                      </a:r>
                    </a:p>
                  </a:txBody>
                  <a:tcPr>
                    <a:solidFill>
                      <a:srgbClr val="FFEBEE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C0392B"/>
                          </a:solidFill>
                          <a:latin typeface="Calibri"/>
                        </a:rPr>
                        <a:t>2.5× menor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35280">
                <a:tc>
                  <a:txBody>
                    <a:bodyPr lIns="60000" rIns="60000" tIns="30000" bIns="30000"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A2847"/>
                          </a:solidFill>
                          <a:latin typeface="Calibri"/>
                        </a:rPr>
                        <a:t>SAS pitch (q → δe)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2847"/>
                          </a:solidFill>
                          <a:latin typeface="Calibri"/>
                        </a:rPr>
                        <a:t>Kq=0.10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A2847"/>
                          </a:solidFill>
                          <a:latin typeface="Calibri"/>
                        </a:rPr>
                        <a:t>Kq=0.226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C0392B"/>
                          </a:solidFill>
                          <a:latin typeface="Calibri"/>
                        </a:rPr>
                        <a:t>DIFERE</a:t>
                      </a:r>
                    </a:p>
                  </a:txBody>
                  <a:tcPr>
                    <a:solidFill>
                      <a:srgbClr val="FFEBEE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C0392B"/>
                          </a:solidFill>
                          <a:latin typeface="Calibri"/>
                        </a:rPr>
                        <a:t>2.26× maior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57200" y="4434840"/>
            <a:ext cx="8229600" cy="347472"/>
          </a:xfrm>
          <a:prstGeom prst="rect">
            <a:avLst/>
          </a:prstGeom>
          <a:solidFill>
            <a:srgbClr val="0F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4480560"/>
            <a:ext cx="7863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Longitudinal migra quase inteiro — latero-direcional (3 ganhos) INVERTE SINAL e reduz 63–126×.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4846320"/>
            <a:ext cx="8046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Drone Hibrido vs Piper 1/6   |   Kaue Martins de Souza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484632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87722"/>
                </a:solidFill>
                <a:latin typeface="Calibri"/>
              </a:rPr>
              <a:t>MALHA DE CONTROLE · 2/4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0F1E3C"/>
                </a:solidFill>
                <a:latin typeface="Cambria"/>
              </a:rPr>
              <a:t>Ganhos que MUDAM: rolagem (φ → δa)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161288"/>
            <a:ext cx="8229600" cy="0"/>
          </a:xfrm>
          <a:prstGeom prst="line">
            <a:avLst/>
          </a:prstGeom>
          <a:ln w="1587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8229600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1143000"/>
                <a:gridCol w="1463040"/>
                <a:gridCol w="4023360"/>
              </a:tblGrid>
              <a:tr h="422910">
                <a:tc>
                  <a:txBody>
                    <a:bodyPr lIns="60000" rIns="60000" tIns="30000" bIns="30000"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Parametro</a:t>
                      </a:r>
                    </a:p>
                  </a:txBody>
                  <a:tcPr>
                    <a:solidFill>
                      <a:srgbClr val="0F1E3C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Piper</a:t>
                      </a:r>
                    </a:p>
                  </a:txBody>
                  <a:tcPr>
                    <a:solidFill>
                      <a:srgbClr val="0F1E3C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DH adaptado</a:t>
                      </a:r>
                    </a:p>
                  </a:txBody>
                  <a:tcPr>
                    <a:solidFill>
                      <a:srgbClr val="0F1E3C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Por que muda</a:t>
                      </a:r>
                    </a:p>
                  </a:txBody>
                  <a:tcPr>
                    <a:solidFill>
                      <a:srgbClr val="0F1E3C"/>
                    </a:solidFill>
                  </a:tcPr>
                </a:tc>
              </a:tr>
              <a:tr h="422910">
                <a:tc>
                  <a:txBody>
                    <a:bodyPr lIns="60000" rIns="60000" tIns="30000" bIns="30000"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A2847"/>
                          </a:solidFill>
                          <a:latin typeface="Calibri"/>
                        </a:rPr>
                        <a:t>Kp_phi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2E7D32"/>
                          </a:solidFill>
                          <a:latin typeface="Calibri"/>
                        </a:rPr>
                        <a:t>+10.0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C0392B"/>
                          </a:solidFill>
                          <a:latin typeface="Calibri"/>
                        </a:rPr>
                        <a:t>-0.158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2847"/>
                          </a:solidFill>
                          <a:latin typeface="Calibri"/>
                        </a:rPr>
                        <a:t>sinal invertido + |B| 63× maior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22910">
                <a:tc>
                  <a:txBody>
                    <a:bodyPr lIns="60000" rIns="60000" tIns="30000" bIns="30000"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A2847"/>
                          </a:solidFill>
                          <a:latin typeface="Calibri"/>
                        </a:rPr>
                        <a:t>Ki_phi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2847"/>
                          </a:solidFill>
                          <a:latin typeface="Calibri"/>
                        </a:rP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C0392B"/>
                          </a:solidFill>
                          <a:latin typeface="Calibri"/>
                        </a:rPr>
                        <a:t>-0.05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2847"/>
                          </a:solidFill>
                          <a:latin typeface="Calibri"/>
                        </a:rPr>
                        <a:t>combate o modo espiral instavel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2910">
                <a:tc>
                  <a:txBody>
                    <a:bodyPr lIns="60000" rIns="60000" tIns="30000" bIns="30000"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A2847"/>
                          </a:solidFill>
                          <a:latin typeface="Calibri"/>
                        </a:rPr>
                        <a:t>Kp_sas (roll)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2E7D32"/>
                          </a:solidFill>
                          <a:latin typeface="Calibri"/>
                        </a:rPr>
                        <a:t>+0.119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C0392B"/>
                          </a:solidFill>
                          <a:latin typeface="Calibri"/>
                        </a:rPr>
                        <a:t>-0.00188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2847"/>
                          </a:solidFill>
                          <a:latin typeface="Calibri"/>
                        </a:rPr>
                        <a:t>mesma razao fisica do Kp_phi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57200" y="3246120"/>
            <a:ext cx="406908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364992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87722"/>
                </a:solidFill>
                <a:latin typeface="Calibri"/>
              </a:rPr>
              <a:t>1. SINAL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11880"/>
            <a:ext cx="36576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2847"/>
                </a:solidFill>
                <a:latin typeface="Calibri"/>
              </a:rPr>
              <a:t>Com Cl_δa &lt; 0 no DH, δa+ gera roll NEGATIVO. Para manter realimentacao negativa, Kp_phi tambem tem que ser negativo.
Usar +10 no DH fecha o loop com realimentacao POSITIVA → instabilidade imediata.</a:t>
            </a:r>
          </a:p>
        </p:txBody>
      </p:sp>
      <p:sp>
        <p:nvSpPr>
          <p:cNvPr id="9" name="Rectangle 8"/>
          <p:cNvSpPr/>
          <p:nvPr/>
        </p:nvSpPr>
        <p:spPr>
          <a:xfrm>
            <a:off x="4617720" y="3246120"/>
            <a:ext cx="406908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00600" y="3364992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87722"/>
                </a:solidFill>
                <a:latin typeface="Calibri"/>
              </a:rPr>
              <a:t>2. MAGNITUDE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3611880"/>
            <a:ext cx="36576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2847"/>
                </a:solidFill>
                <a:latin typeface="Calibri"/>
              </a:rPr>
              <a:t>|B_lat(p,δa)| = 208.7 no DH contra 3.3 no Piper (razao 63×).
Para manter o loop gain (Kp·B) similar, o ganho deve escalar com o inverso da razao:
Kp_phi,DH ≈ -10/63.3 ≈ -0.158.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846320"/>
            <a:ext cx="8046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Drone Hibrido vs Piper 1/6   |   Kaue Martins de Souza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484632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87722"/>
                </a:solidFill>
                <a:latin typeface="Calibri"/>
              </a:rPr>
              <a:t>MALHA DE CONTROLE · 3/4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0F1E3C"/>
                </a:solidFill>
                <a:latin typeface="Cambria"/>
              </a:rPr>
              <a:t>Ganhos que MUDAM: guinada (yaw damper)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161288"/>
            <a:ext cx="8229600" cy="0"/>
          </a:xfrm>
          <a:prstGeom prst="line">
            <a:avLst/>
          </a:prstGeom>
          <a:ln w="1587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57200" y="1417320"/>
            <a:ext cx="822960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91440" cy="123444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0876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87722"/>
                </a:solidFill>
                <a:latin typeface="Calibri"/>
              </a:rPr>
              <a:t>YAW DAMPER (r → δr)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78308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F1E3C"/>
                </a:solidFill>
                <a:latin typeface="Cambria"/>
              </a:rPr>
              <a:t>Kr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155448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64748B"/>
                </a:solidFill>
                <a:latin typeface="Calibri"/>
              </a:rPr>
              <a:t>PIPER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1783080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 i="0">
                <a:solidFill>
                  <a:srgbClr val="2E7D32"/>
                </a:solidFill>
                <a:latin typeface="Cambria"/>
              </a:rPr>
              <a:t>+0.15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155448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64748B"/>
                </a:solidFill>
                <a:latin typeface="Calibri"/>
              </a:rPr>
              <a:t>DH ADAPTADO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1783080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 i="0">
                <a:solidFill>
                  <a:srgbClr val="C0392B"/>
                </a:solidFill>
                <a:latin typeface="Cambria"/>
              </a:rPr>
              <a:t>-0.00119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331720"/>
            <a:ext cx="7863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64748B"/>
                </a:solidFill>
                <a:latin typeface="Calibri"/>
              </a:rPr>
              <a:t>sinal invertido · magnitude 126× menor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834640"/>
            <a:ext cx="4069080" cy="18288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9718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87722"/>
                </a:solidFill>
                <a:latin typeface="Calibri"/>
              </a:rPr>
              <a:t>POR QUE INVERTE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246120"/>
            <a:ext cx="36576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2847"/>
                </a:solidFill>
                <a:latin typeface="Calibri"/>
              </a:rPr>
              <a:t>Cn_δr muda de sinal: leme positivo no DH produz guinada POSITIVA, contrario ao Piper. O amortecedor de guinada usa -Kr·r para cancelar taxa de yaw — preservar o sinal de amortecimento exige inverter Kr.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17720" y="2834640"/>
            <a:ext cx="4069080" cy="18288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00600" y="29718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87722"/>
                </a:solidFill>
                <a:latin typeface="Calibri"/>
              </a:rPr>
              <a:t>POR QUE ENCOLHE 126×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00600" y="3246120"/>
            <a:ext cx="36576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2847"/>
                </a:solidFill>
                <a:latin typeface="Calibri"/>
              </a:rPr>
              <a:t>|Cn_δr| do DH e 257× maior, mas o coef. de amortecimento natural Cn_r do DH tambem e 10.5× maior. O ganho efetivo ainda precisa ser reduzido drasticamente para nao saturar o leme em distrubios pequenos.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4846320"/>
            <a:ext cx="8046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Drone Hibrido vs Piper 1/6   |   Kaue Martins de Souza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484632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87722"/>
                </a:solidFill>
                <a:latin typeface="Calibri"/>
              </a:rPr>
              <a:t>MALHA DE CONTROLE · 4/4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0F1E3C"/>
                </a:solidFill>
                <a:latin typeface="Cambria"/>
              </a:rPr>
              <a:t>Ganhos que MUDAM: velocidade (VT → δT)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161288"/>
            <a:ext cx="8229600" cy="0"/>
          </a:xfrm>
          <a:prstGeom prst="line">
            <a:avLst/>
          </a:prstGeom>
          <a:ln w="1587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82296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1143000"/>
                <a:gridCol w="1417320"/>
                <a:gridCol w="3931920"/>
              </a:tblGrid>
              <a:tr h="384048">
                <a:tc>
                  <a:txBody>
                    <a:bodyPr lIns="60000" rIns="60000" tIns="30000" bIns="30000"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Ganho</a:t>
                      </a:r>
                    </a:p>
                  </a:txBody>
                  <a:tcPr>
                    <a:solidFill>
                      <a:srgbClr val="0F1E3C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Piper</a:t>
                      </a:r>
                    </a:p>
                  </a:txBody>
                  <a:tcPr>
                    <a:solidFill>
                      <a:srgbClr val="0F1E3C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DH adaptado</a:t>
                      </a:r>
                    </a:p>
                  </a:txBody>
                  <a:tcPr>
                    <a:solidFill>
                      <a:srgbClr val="0F1E3C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Observacao</a:t>
                      </a:r>
                    </a:p>
                  </a:txBody>
                  <a:tcPr>
                    <a:solidFill>
                      <a:srgbClr val="0F1E3C"/>
                    </a:solidFill>
                  </a:tcPr>
                </a:tc>
              </a:tr>
              <a:tr h="384048">
                <a:tc>
                  <a:txBody>
                    <a:bodyPr lIns="60000" rIns="60000" tIns="30000" bIns="30000"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A2847"/>
                          </a:solidFill>
                          <a:latin typeface="Calibri"/>
                        </a:rPr>
                        <a:t>Kp_vel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2847"/>
                          </a:solidFill>
                          <a:latin typeface="Calibri"/>
                        </a:rPr>
                        <a:t>0.05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2847"/>
                          </a:solidFill>
                          <a:latin typeface="Calibri"/>
                        </a:rPr>
                        <a:t>0.02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2847"/>
                          </a:solidFill>
                          <a:latin typeface="Calibri"/>
                        </a:rPr>
                        <a:t>0.40×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 lIns="60000" rIns="60000" tIns="30000" bIns="30000"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A2847"/>
                          </a:solidFill>
                          <a:latin typeface="Calibri"/>
                        </a:rPr>
                        <a:t>Ki_vel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2847"/>
                          </a:solidFill>
                          <a:latin typeface="Calibri"/>
                        </a:rPr>
                        <a:t>0.02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2847"/>
                          </a:solidFill>
                          <a:latin typeface="Calibri"/>
                        </a:rPr>
                        <a:t>0.008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2847"/>
                          </a:solidFill>
                          <a:latin typeface="Calibri"/>
                        </a:rPr>
                        <a:t>0.40×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lIns="60000" rIns="60000" tIns="30000" bIns="30000"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A2847"/>
                          </a:solidFill>
                          <a:latin typeface="Calibri"/>
                        </a:rPr>
                        <a:t>Kd_vel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2847"/>
                          </a:solidFill>
                          <a:latin typeface="Calibri"/>
                        </a:rPr>
                        <a:t>0.01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2847"/>
                          </a:solidFill>
                          <a:latin typeface="Calibri"/>
                        </a:rPr>
                        <a:t>0.005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2847"/>
                          </a:solidFill>
                          <a:latin typeface="Calibri"/>
                        </a:rPr>
                        <a:t>0.50×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 lIns="60000" rIns="60000" tIns="30000" bIns="30000"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A2847"/>
                          </a:solidFill>
                          <a:latin typeface="Calibri"/>
                        </a:rPr>
                        <a:t>Kq (SAS pitch)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2847"/>
                          </a:solidFill>
                          <a:latin typeface="Calibri"/>
                        </a:rPr>
                        <a:t>0.10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2847"/>
                          </a:solidFill>
                          <a:latin typeface="Calibri"/>
                        </a:rPr>
                        <a:t>0.226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2E7D32"/>
                          </a:solidFill>
                          <a:latin typeface="Calibri"/>
                        </a:rPr>
                        <a:t>2.26× — compensa B_long(q,δe) menor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57200" y="3429000"/>
            <a:ext cx="822960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3429000"/>
            <a:ext cx="91440" cy="1234440"/>
          </a:xfrm>
          <a:prstGeom prst="rect">
            <a:avLst/>
          </a:prstGeom>
          <a:solidFill>
            <a:srgbClr val="1E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502152"/>
            <a:ext cx="7863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E3A6C"/>
                </a:solidFill>
                <a:latin typeface="Calibri"/>
              </a:rPr>
              <a:t>MOTIVO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30752"/>
            <a:ext cx="786384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2847"/>
                </a:solidFill>
                <a:latin typeface="Calibri"/>
              </a:rPr>
              <a:t>B_long(u,δT) e praticamente identico (5.62 vs 5.83), mas o DH tem Fmax menor (14 N vs 18 N) e carga alar maior → resposta de V mais lenta, com margens de fase ruins se Kp_vel=0.05.   Solucao: reduzir proporcionalmente o ganho de V e aumentar Kq para compensar Cm_δe 20% menor.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846320"/>
            <a:ext cx="8046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Drone Hibrido vs Piper 1/6   |   Kaue Martins de Souza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484632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87722"/>
                </a:solidFill>
                <a:latin typeface="Calibri"/>
              </a:rPr>
              <a:t>CONSEQUENCIA DA AUTORIDADE DE CONTROLE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0F1E3C"/>
                </a:solidFill>
                <a:latin typeface="Cambria"/>
              </a:rPr>
              <a:t>Saturadores: o Piper precisa, o DH nao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161288"/>
            <a:ext cx="8229600" cy="0"/>
          </a:xfrm>
          <a:prstGeom prst="line">
            <a:avLst/>
          </a:prstGeom>
          <a:ln w="1587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25880"/>
          <a:ext cx="8229600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1463040"/>
                <a:gridCol w="1463040"/>
                <a:gridCol w="1417320"/>
                <a:gridCol w="2286000"/>
              </a:tblGrid>
              <a:tr h="356616">
                <a:tc>
                  <a:txBody>
                    <a:bodyPr lIns="60000" rIns="60000" tIns="30000" bIns="30000"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Comando</a:t>
                      </a:r>
                    </a:p>
                  </a:txBody>
                  <a:tcPr>
                    <a:solidFill>
                      <a:srgbClr val="0F1E3C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Piper (real)</a:t>
                      </a:r>
                    </a:p>
                  </a:txBody>
                  <a:tcPr>
                    <a:solidFill>
                      <a:srgbClr val="0F1E3C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DH (real)</a:t>
                      </a:r>
                    </a:p>
                  </a:txBody>
                  <a:tcPr>
                    <a:solidFill>
                      <a:srgbClr val="0F1E3C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Limite fisico</a:t>
                      </a:r>
                    </a:p>
                  </a:txBody>
                  <a:tcPr>
                    <a:solidFill>
                      <a:srgbClr val="0F1E3C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Ativou saturador?</a:t>
                      </a:r>
                    </a:p>
                  </a:txBody>
                  <a:tcPr>
                    <a:solidFill>
                      <a:srgbClr val="0F1E3C"/>
                    </a:solidFill>
                  </a:tcPr>
                </a:tc>
              </a:tr>
              <a:tr h="356616">
                <a:tc>
                  <a:txBody>
                    <a:bodyPr lIns="60000" rIns="60000" tIns="30000" bIns="30000"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A2847"/>
                          </a:solidFill>
                          <a:latin typeface="Calibri"/>
                        </a:rPr>
                        <a:t>Aileron δa</a:t>
                      </a:r>
                    </a:p>
                  </a:txBody>
                  <a:tcPr>
                    <a:solidFill>
                      <a:srgbClr val="FFF4EA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2847"/>
                          </a:solidFill>
                          <a:latin typeface="Calibri"/>
                        </a:rPr>
                        <a:t>25.0°</a:t>
                      </a:r>
                    </a:p>
                  </a:txBody>
                  <a:tcPr>
                    <a:solidFill>
                      <a:srgbClr val="FFF4EA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2847"/>
                          </a:solidFill>
                          <a:latin typeface="Calibri"/>
                        </a:rPr>
                        <a:t>0.95°</a:t>
                      </a:r>
                    </a:p>
                  </a:txBody>
                  <a:tcPr>
                    <a:solidFill>
                      <a:srgbClr val="FFF4EA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2847"/>
                          </a:solidFill>
                          <a:latin typeface="Calibri"/>
                        </a:rPr>
                        <a:t>±25°</a:t>
                      </a:r>
                    </a:p>
                  </a:txBody>
                  <a:tcPr>
                    <a:solidFill>
                      <a:srgbClr val="FFF4EA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E87722"/>
                          </a:solidFill>
                          <a:latin typeface="Calibri"/>
                        </a:rPr>
                        <a:t>SIM · atinge limite</a:t>
                      </a:r>
                    </a:p>
                  </a:txBody>
                  <a:tcPr>
                    <a:solidFill>
                      <a:srgbClr val="FFF4EA"/>
                    </a:solidFill>
                  </a:tcPr>
                </a:tc>
              </a:tr>
              <a:tr h="356616">
                <a:tc>
                  <a:txBody>
                    <a:bodyPr lIns="60000" rIns="60000" tIns="30000" bIns="30000"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A2847"/>
                          </a:solidFill>
                          <a:latin typeface="Calibri"/>
                        </a:rPr>
                        <a:t>Elevator δe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2847"/>
                          </a:solidFill>
                          <a:latin typeface="Calibri"/>
                        </a:rPr>
                        <a:t>0.05°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2847"/>
                          </a:solidFill>
                          <a:latin typeface="Calibri"/>
                        </a:rPr>
                        <a:t>0.10°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2847"/>
                          </a:solidFill>
                          <a:latin typeface="Calibri"/>
                        </a:rPr>
                        <a:t>±25°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2847"/>
                          </a:solidFill>
                          <a:latin typeface="Calibri"/>
                        </a:rPr>
                        <a:t>nao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lIns="60000" rIns="60000" tIns="30000" bIns="30000"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A2847"/>
                          </a:solidFill>
                          <a:latin typeface="Calibri"/>
                        </a:rPr>
                        <a:t>Rudder δr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2847"/>
                          </a:solidFill>
                          <a:latin typeface="Calibri"/>
                        </a:rPr>
                        <a:t>0.22°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2847"/>
                          </a:solidFill>
                          <a:latin typeface="Calibri"/>
                        </a:rPr>
                        <a:t>0.00°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2847"/>
                          </a:solidFill>
                          <a:latin typeface="Calibri"/>
                        </a:rPr>
                        <a:t>±25°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2847"/>
                          </a:solidFill>
                          <a:latin typeface="Calibri"/>
                        </a:rPr>
                        <a:t>nao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56616">
                <a:tc>
                  <a:txBody>
                    <a:bodyPr lIns="60000" rIns="60000" tIns="30000" bIns="30000"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A2847"/>
                          </a:solidFill>
                          <a:latin typeface="Calibri"/>
                        </a:rPr>
                        <a:t>Throttle δT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2847"/>
                          </a:solidFill>
                          <a:latin typeface="Calibri"/>
                        </a:rPr>
                        <a:t>0.37–0.49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2847"/>
                          </a:solidFill>
                          <a:latin typeface="Calibri"/>
                        </a:rPr>
                        <a:t>0.34–0.35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2847"/>
                          </a:solidFill>
                          <a:latin typeface="Calibri"/>
                        </a:rPr>
                        <a:t>[0,1]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0000" rIns="60000" tIns="30000" bIns="30000"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2847"/>
                          </a:solidFill>
                          <a:latin typeface="Calibri"/>
                        </a:rPr>
                        <a:t>nao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57200" y="3246120"/>
            <a:ext cx="406908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3246120"/>
            <a:ext cx="91440" cy="14173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333756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87722"/>
                </a:solidFill>
                <a:latin typeface="Calibri"/>
              </a:rPr>
              <a:t>PIPER — PRECISA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584448"/>
            <a:ext cx="384048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2847"/>
                </a:solidFill>
                <a:latin typeface="Calibri"/>
              </a:rPr>
              <a:t>B_lat(p,δa) = 3.3 → baixa autoridade. Rolagem de 30° exige ate 25° de aileron:
com Kp_φ = 10, o PID comanda δa = 10 × 0.35 ≈ 3.5 rad (200°) — so existe 25° fisicos.
Saturador protege o atuador e o anti-windup evita carga do integrador.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17720" y="3246120"/>
            <a:ext cx="406908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17720" y="3246120"/>
            <a:ext cx="91440" cy="14173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0" y="333756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E7D32"/>
                </a:solidFill>
                <a:latin typeface="Calibri"/>
              </a:rPr>
              <a:t>DH — NAO ATIVA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3584448"/>
            <a:ext cx="384048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2847"/>
                </a:solidFill>
                <a:latin typeface="Calibri"/>
              </a:rPr>
              <a:t>B_lat(p,δa) = 208.7 → alta autoridade. Mesma rolagem de 30° exige so ~1° de aileron.
Com Kp_φ = -0.158, o comando tipico fica abaixo de 4% da autoridade fisica.
Os saturadores continuam no codigo, mas nunca chegam a ativar em regime.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846320"/>
            <a:ext cx="8046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Drone Hibrido vs Piper 1/6   |   Kaue Martins de Souza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484632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87722"/>
                </a:solidFill>
                <a:latin typeface="Calibri"/>
              </a:rPr>
              <a:t>SIMULACAO NL · RK4 · 300 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0F1E3C"/>
                </a:solidFill>
                <a:latin typeface="Cambria"/>
              </a:rPr>
              <a:t>Cenario A: ganhos do Piper em ambas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161288"/>
            <a:ext cx="8229600" cy="0"/>
          </a:xfrm>
          <a:prstGeom prst="line">
            <a:avLst/>
          </a:prstGeom>
          <a:ln w="1587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piper_gains_altitu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4114800" cy="1874519"/>
          </a:xfrm>
          <a:prstGeom prst="rect">
            <a:avLst/>
          </a:prstGeom>
        </p:spPr>
      </p:pic>
      <p:pic>
        <p:nvPicPr>
          <p:cNvPr id="6" name="Picture 5" descr="piper_gains_ps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1234440"/>
            <a:ext cx="4114800" cy="1874519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3291840"/>
            <a:ext cx="8229600" cy="14173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3291840"/>
            <a:ext cx="91440" cy="1417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38328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C0392B"/>
                </a:solidFill>
                <a:latin typeface="Calibri"/>
              </a:rPr>
              <a:t>RESULTADO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630168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C0392B"/>
                </a:solidFill>
                <a:latin typeface="Cambria"/>
              </a:rPr>
              <a:t>DH diverge em t = 1.4 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087368"/>
            <a:ext cx="80467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2847"/>
                </a:solidFill>
                <a:latin typeface="Calibri"/>
              </a:rPr>
              <a:t>O Piper com Kp_phi=+10 e estavel. No DH, o mesmo +10 fecha o loop com realimentacao POSITIVA (porque Cl_δa &lt; 0) — φ cresce exponencialmente ate saturar δa, e a aeronave capota.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846320"/>
            <a:ext cx="8046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Drone Hibrido vs Piper 1/6   |   Kaue Martins de Souza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484632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87722"/>
                </a:solidFill>
                <a:latin typeface="Calibri"/>
              </a:rPr>
              <a:t>SIMULACAO NL · RK4 · 300 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0F1E3C"/>
                </a:solidFill>
                <a:latin typeface="Cambria"/>
              </a:rPr>
              <a:t>Cenario B: cada uma com seus ganhos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161288"/>
            <a:ext cx="8229600" cy="0"/>
          </a:xfrm>
          <a:prstGeom prst="line">
            <a:avLst/>
          </a:prstGeom>
          <a:ln w="1587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ganhos_proprios_altitu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4114800" cy="1874519"/>
          </a:xfrm>
          <a:prstGeom prst="rect">
            <a:avLst/>
          </a:prstGeom>
        </p:spPr>
      </p:pic>
      <p:pic>
        <p:nvPicPr>
          <p:cNvPr id="6" name="Picture 5" descr="ganhos_proprios_ps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1234440"/>
            <a:ext cx="4114800" cy="1874519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3291840"/>
            <a:ext cx="8229600" cy="14173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3291840"/>
            <a:ext cx="91440" cy="14173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38328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E7D32"/>
                </a:solidFill>
                <a:latin typeface="Calibri"/>
              </a:rPr>
              <a:t>RESULTADO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630168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2E7D32"/>
                </a:solidFill>
                <a:latin typeface="Cambria"/>
              </a:rPr>
              <a:t>Ambos estaveis por 300 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087368"/>
            <a:ext cx="80467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2847"/>
                </a:solidFill>
                <a:latin typeface="Calibri"/>
              </a:rPr>
              <a:t>Com ganhos ajustados ao sinal e a magnitude de cada Cl_δa, ambos convergem: altitude retorna ao trim e heading atinge 20° sem oscilacao. Nao ha incompatibilidade fundamental — apenas geometria diferente.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846320"/>
            <a:ext cx="8046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Drone Hibrido vs Piper 1/6   |   Kaue Martins de Souza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484632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02920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87722"/>
                </a:solidFill>
                <a:latin typeface="Calibri"/>
              </a:rPr>
              <a:t>CONCLUSOES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868680"/>
            <a:ext cx="7772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mbria"/>
              </a:rPr>
              <a:t>Semelhanca fisica nao implica intercambio de ganhos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E87722"/>
                </a:solidFill>
                <a:latin typeface="Cambr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801368"/>
            <a:ext cx="7040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mbria"/>
              </a:rPr>
              <a:t>Longitudinal migra.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2121408"/>
            <a:ext cx="7040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F5F7FA"/>
                </a:solidFill>
                <a:latin typeface="Calibri"/>
              </a:rPr>
              <a:t>Cm_δe similar, estabilidade estatica mantida → altitude e θ usam os mesmos ganhos.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96312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E87722"/>
                </a:solidFill>
                <a:latin typeface="Cambria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2514600"/>
            <a:ext cx="7040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mbria"/>
              </a:rPr>
              <a:t>Latero-direcional NAO migra.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2834640"/>
            <a:ext cx="7040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F5F7FA"/>
                </a:solidFill>
                <a:latin typeface="Calibri"/>
              </a:rPr>
              <a:t>Cl_δa e Cn_δr tem sinais INVERTIDOS — convencao/geometria diferente no AVL.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209544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E87722"/>
                </a:solidFill>
                <a:latin typeface="Cambria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3227832"/>
            <a:ext cx="7040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mbria"/>
              </a:rPr>
              <a:t>Escala e critica.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3547872"/>
            <a:ext cx="7040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F5F7FA"/>
                </a:solidFill>
                <a:latin typeface="Calibri"/>
              </a:rPr>
              <a:t>|B_lat(p,δa)| 63× maior e |B_lat(r,δr)| 126× maior exigem ganhos proporcionalmente menores.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922776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E87722"/>
                </a:solidFill>
                <a:latin typeface="Cambria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3941063"/>
            <a:ext cx="7040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mbria"/>
              </a:rPr>
              <a:t>Sempre linearizar antes.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4261104"/>
            <a:ext cx="7040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F5F7FA"/>
                </a:solidFill>
                <a:latin typeface="Calibri"/>
              </a:rPr>
              <a:t>A matriz B no trim diz exatamente por quanto escalar e quando inverter cada ganho.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800600"/>
            <a:ext cx="7772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F5F7FA"/>
                </a:solidFill>
                <a:latin typeface="Calibri"/>
              </a:rPr>
              <a:t>Scripts: teste/comparar_piper_dh.m · teste/testar_DH.m · DH/dyn_rigidbody.m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